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i7mBcAbGWXp2h/Nqni7v5FkAR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.png"/><Relationship Id="rId11" Type="http://schemas.openxmlformats.org/officeDocument/2006/relationships/image" Target="../media/image17.png"/><Relationship Id="rId10" Type="http://schemas.openxmlformats.org/officeDocument/2006/relationships/image" Target="../media/image11.png"/><Relationship Id="rId21" Type="http://schemas.openxmlformats.org/officeDocument/2006/relationships/image" Target="../media/image20.png"/><Relationship Id="rId13" Type="http://schemas.openxmlformats.org/officeDocument/2006/relationships/image" Target="../media/image9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15" Type="http://schemas.openxmlformats.org/officeDocument/2006/relationships/image" Target="../media/image3.png"/><Relationship Id="rId14" Type="http://schemas.openxmlformats.org/officeDocument/2006/relationships/image" Target="../media/image19.png"/><Relationship Id="rId17" Type="http://schemas.openxmlformats.org/officeDocument/2006/relationships/image" Target="../media/image5.png"/><Relationship Id="rId16" Type="http://schemas.openxmlformats.org/officeDocument/2006/relationships/image" Target="../media/image12.png"/><Relationship Id="rId5" Type="http://schemas.openxmlformats.org/officeDocument/2006/relationships/image" Target="../media/image6.png"/><Relationship Id="rId19" Type="http://schemas.openxmlformats.org/officeDocument/2006/relationships/image" Target="../media/image13.png"/><Relationship Id="rId6" Type="http://schemas.openxmlformats.org/officeDocument/2006/relationships/image" Target="../media/image16.png"/><Relationship Id="rId18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0080" y="1097280"/>
            <a:ext cx="82296" cy="438912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51560" y="731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DEGASA HOLDING SPA  /  INGENIERÍA EN INFORMÁTICA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33271" y="160020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NEXO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51560" y="2971800"/>
            <a:ext cx="9784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Sistema de detección proactiva de incidencias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para reducir la carga de llamadas a mesa de ayuda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51560" y="5303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ESTUDIANTE  ·  CAMILO FLORES LAGOS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51560" y="578815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Proyecto Capstone  |  KFC · Wendy’s · China Wok · Heladerías KFC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01 · RESPONSABLES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Equipo de trabajo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02  /  14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85800" y="1828800"/>
            <a:ext cx="6583680" cy="320040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86968" y="197510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CF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896112" y="2359152"/>
            <a:ext cx="6199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Camilo Flores Lagos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896112" y="2862072"/>
            <a:ext cx="6172200" cy="2121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Desarrollo individual del proyecto: levantamiento, arquitectura, modelado de datos, desarrollo, integración, pruebas y documentación.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7543800" y="1828800"/>
            <a:ext cx="3886200" cy="320040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754112" y="2048256"/>
            <a:ext cx="3502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Áreas involucradas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7754112" y="2615184"/>
            <a:ext cx="3474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Mesa de ayuda / soporte TI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Operación de restaurantes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Equipo </a:t>
            </a:r>
            <a:r>
              <a:rPr lang="en-US" sz="1300">
                <a:solidFill>
                  <a:srgbClr val="A9BCCF"/>
                </a:solidFill>
              </a:rPr>
              <a:t>de soporte </a:t>
            </a: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Nivel 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02 · DIAGNÓSTICO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Contexto, problemática y solución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03  /  14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40075" y="1691646"/>
            <a:ext cx="3520500" cy="191730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841247" y="18379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850392" y="2221992"/>
            <a:ext cx="3136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850392" y="2724912"/>
            <a:ext cx="3108960" cy="235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Más de 100 locales de DEGASA Holding, con sistemas y fuentes de información distribuidas.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343400" y="1691646"/>
            <a:ext cx="3520500" cy="191730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4544568" y="18379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4553712" y="2221992"/>
            <a:ext cx="3136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553712" y="2724912"/>
            <a:ext cx="31089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Incidencias como descuadres de ventas se detectan manualmente; auditores llaman a mesa de ayuda </a:t>
            </a:r>
            <a:r>
              <a:rPr lang="en-US" sz="1300">
                <a:solidFill>
                  <a:srgbClr val="A9BCCF"/>
                </a:solidFill>
              </a:rPr>
              <a:t>muy cerca de fin de mes</a:t>
            </a: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8046725" y="1691646"/>
            <a:ext cx="3520500" cy="191730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8247888" y="18379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8257032" y="2221992"/>
            <a:ext cx="3136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Solución Nexo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8257032" y="2724912"/>
            <a:ext cx="3108960" cy="235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Monitoreo centralizado que detecta anomalías y genera tickets automáticamente para anticipar la gestión de soporte.</a:t>
            </a:r>
            <a:endParaRPr/>
          </a:p>
        </p:txBody>
      </p:sp>
      <p:pic>
        <p:nvPicPr>
          <p:cNvPr id="127" name="Google Shape;12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625" y="3694225"/>
            <a:ext cx="7428826" cy="29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03 · PROPÓSITO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04  /  14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731520" y="1828800"/>
            <a:ext cx="10698480" cy="310896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1423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188720" y="2377440"/>
            <a:ext cx="9692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Desarrollar un sistema de detección proactiva de incidencias operacionales en la red de locales, que automatice la generación de tickets en mesa de ayuda y permita agilizar la atención de cada incidencia.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2011680" y="5394960"/>
            <a:ext cx="8138160" cy="411480"/>
          </a:xfrm>
          <a:prstGeom prst="roundRect">
            <a:avLst>
              <a:gd fmla="val 16667" name="adj"/>
            </a:avLst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2121408" y="5477256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META: REDUCIR EN UN 50% LAS LLAMADAS A MESA DE AYUDA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2286000" y="5961888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El 50% es una meta esperada, no un resultado comprobado.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04 · INGENIERÍA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05  /  14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85800" y="1783080"/>
            <a:ext cx="5440680" cy="178308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886968" y="192938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896112" y="2313432"/>
            <a:ext cx="5056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Diseñar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896112" y="2816352"/>
            <a:ext cx="50292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Arquitectura de la solución y modelo de datos.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492240" y="1783080"/>
            <a:ext cx="5440680" cy="178308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693407" y="192938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6702552" y="2313432"/>
            <a:ext cx="5056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Desarrollar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6702552" y="2816352"/>
            <a:ext cx="50292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Dashboard y microservicio de integración con InvGate.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85800" y="3886200"/>
            <a:ext cx="5440680" cy="178308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886968" y="403250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896112" y="4416552"/>
            <a:ext cx="5056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896112" y="4919472"/>
            <a:ext cx="50292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Detección de incidencias y creación automática de tickets.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492240" y="3886200"/>
            <a:ext cx="5440680" cy="178308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6693407" y="403250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6702552" y="4416552"/>
            <a:ext cx="5056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Desplegar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6702552" y="4919472"/>
            <a:ext cx="502920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Sistema de automatización en entorno productivo.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05 · FUNCIONALIDADES Y RESTRICCIONES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Alcance del proyecto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06  /  14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548640" y="1664208"/>
            <a:ext cx="3566160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758952" y="1883664"/>
            <a:ext cx="3182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758952" y="2450592"/>
            <a:ext cx="3154679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Estado de locales, boletas encoladas, descuadres, documentos sin folio y tamaño de BD.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434840" y="1664208"/>
            <a:ext cx="3566160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4645152" y="1883664"/>
            <a:ext cx="3182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Detección automática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4645152" y="2450592"/>
            <a:ext cx="31548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Identificación de anomalías operacionales</a:t>
            </a:r>
            <a:r>
              <a:rPr lang="en-US" sz="1300">
                <a:solidFill>
                  <a:srgbClr val="A9BCCF"/>
                </a:solidFill>
              </a:rPr>
              <a:t>, financieras y de mantenimiento</a:t>
            </a: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8321040" y="1664208"/>
            <a:ext cx="3566160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8531352" y="1883664"/>
            <a:ext cx="3182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Tickets InvGate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8531352" y="2450592"/>
            <a:ext cx="3154679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Creación automática y asignación al área de soporte correspondiente.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548640" y="3813048"/>
            <a:ext cx="3566160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758952" y="4032504"/>
            <a:ext cx="3182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Worker de sincronización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758952" y="4599432"/>
            <a:ext cx="3154679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Consolidación de información desde más de 100 locales.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434840" y="3813048"/>
            <a:ext cx="3566160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4645152" y="4032504"/>
            <a:ext cx="3182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Dependencias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4645152" y="4599432"/>
            <a:ext cx="3154679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Conectividad de red y disponibilidad de servicios externos.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321040" y="3813048"/>
            <a:ext cx="3566160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8531352" y="4032504"/>
            <a:ext cx="3182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Restricción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8531352" y="4599432"/>
            <a:ext cx="3154679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Cobertura de pruebas condicionada por el desarrollo individual.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06 · RF Y RNF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Requerimientos del sistema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07  /  14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40080" y="1737360"/>
            <a:ext cx="5440680" cy="420624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1423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217920" y="1737360"/>
            <a:ext cx="5303520" cy="420624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1423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FUNCIONALES (RF)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914400" y="2606040"/>
            <a:ext cx="4800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RF-01  Autenticación al dashboard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RF-02  Visualización de métricas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RF-03  Filtro por marca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RF-04  Detección de incidencias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RF-05  Creación automática de tickets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6492240" y="1965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NO FUNCIONALES (RNF)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6492240" y="2606040"/>
            <a:ext cx="4663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RNF-01  Diseño responsivo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RNF-02  Seguridad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RNF-03  Rendimiento para +100 locales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RNF-04  Disponibilidad de servicios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07 · MODELO SECUENCIAL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Metodología tradicional en cascada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08  /  14</a:t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94360" y="2148840"/>
            <a:ext cx="2057400" cy="233172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795528" y="2295144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804672" y="2679192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804672" y="3182112"/>
            <a:ext cx="164592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Necesidades y requerimientos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2926079" y="2459736"/>
            <a:ext cx="2057400" cy="233172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3127248" y="26060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3136391" y="2990088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3136391" y="3493008"/>
            <a:ext cx="164592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Arquitectura y modelo de datos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5257800" y="2770632"/>
            <a:ext cx="2057400" cy="233172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5458968" y="2916936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5468112" y="3300984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5468112" y="3803904"/>
            <a:ext cx="16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Dashboard, </a:t>
            </a:r>
            <a:r>
              <a:rPr lang="en-US" sz="1300">
                <a:solidFill>
                  <a:srgbClr val="A9BCCF"/>
                </a:solidFill>
              </a:rPr>
              <a:t>worker, API y BD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7589519" y="3081528"/>
            <a:ext cx="2057400" cy="233172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7790688" y="322783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7799831" y="3611880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7799831" y="4114800"/>
            <a:ext cx="164592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Validación funcional e integración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9921240" y="3392424"/>
            <a:ext cx="2057400" cy="233172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10122408" y="353872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10131552" y="3922776"/>
            <a:ext cx="1673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10131552" y="4425696"/>
            <a:ext cx="164592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Puesta en marcha y documentación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Organización del proyecto por etapas con entregables definidos. La validación formal de cada fase debe respaldarse con evidencias.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08 · PLANIFICACIÓN</a:t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Cronograma del proyecto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09  /  14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685800" y="16642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Secuencia de actividades · Fechas por completar según Carta Gantt oficial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731520" y="221284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Levantamiento y análisis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4754880" y="2267712"/>
            <a:ext cx="6126480" cy="210312"/>
          </a:xfrm>
          <a:prstGeom prst="rect">
            <a:avLst/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754880" y="2267712"/>
            <a:ext cx="1188720" cy="210312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731520" y="27432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Diseño de arquitectura y BD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754880" y="2798064"/>
            <a:ext cx="6126480" cy="210312"/>
          </a:xfrm>
          <a:prstGeom prst="rect">
            <a:avLst/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486400" y="2798064"/>
            <a:ext cx="1463040" cy="210312"/>
          </a:xfrm>
          <a:prstGeom prst="rect">
            <a:avLst/>
          </a:prstGeom>
          <a:solidFill>
            <a:srgbClr val="3C7DE6"/>
          </a:solidFill>
          <a:ln cap="flat" cmpd="sng" w="9525">
            <a:solidFill>
              <a:srgbClr val="3C7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731520" y="327355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Desarrollo del dashboard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754880" y="3328416"/>
            <a:ext cx="6126480" cy="210312"/>
          </a:xfrm>
          <a:prstGeom prst="rect">
            <a:avLst/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400800" y="3328416"/>
            <a:ext cx="2011680" cy="210312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731520" y="3803904"/>
            <a:ext cx="39318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Desarrollo del worker y la BD</a:t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4754880" y="3858768"/>
            <a:ext cx="6126480" cy="210312"/>
          </a:xfrm>
          <a:prstGeom prst="rect">
            <a:avLst/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7223760" y="3858768"/>
            <a:ext cx="1463040" cy="210312"/>
          </a:xfrm>
          <a:prstGeom prst="rect">
            <a:avLst/>
          </a:prstGeom>
          <a:solidFill>
            <a:srgbClr val="3C7DE6"/>
          </a:solidFill>
          <a:ln cap="flat" cmpd="sng" w="9525">
            <a:solidFill>
              <a:srgbClr val="3C7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731520" y="433425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Integración con InvGate</a:t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754880" y="4389120"/>
            <a:ext cx="6126480" cy="210312"/>
          </a:xfrm>
          <a:prstGeom prst="rect">
            <a:avLst/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8138160" y="4389120"/>
            <a:ext cx="1371600" cy="210312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731520" y="486460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Pruebas y validación</a:t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754880" y="4919472"/>
            <a:ext cx="6126480" cy="210312"/>
          </a:xfrm>
          <a:prstGeom prst="rect">
            <a:avLst/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9052560" y="4919472"/>
            <a:ext cx="1280160" cy="210312"/>
          </a:xfrm>
          <a:prstGeom prst="rect">
            <a:avLst/>
          </a:prstGeom>
          <a:solidFill>
            <a:srgbClr val="3C7DE6"/>
          </a:solidFill>
          <a:ln cap="flat" cmpd="sng" w="9525">
            <a:solidFill>
              <a:srgbClr val="3C7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731520" y="5394959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Despliegue y documentación</a:t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4754880" y="5449823"/>
            <a:ext cx="6126480" cy="210312"/>
          </a:xfrm>
          <a:prstGeom prst="rect">
            <a:avLst/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9966960" y="5449823"/>
            <a:ext cx="914400" cy="210312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4754880" y="617220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Esquema ilustrativo de secuencia, sin escala temporal ni fechas reales.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09 · HERRAMIENTAS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Stack tecnológico</a:t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10  /  14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594360" y="1700784"/>
            <a:ext cx="3584448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804672" y="1920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282" name="Google Shape;282;p10"/>
          <p:cNvSpPr txBox="1"/>
          <p:nvPr/>
        </p:nvSpPr>
        <p:spPr>
          <a:xfrm>
            <a:off x="804672" y="2487168"/>
            <a:ext cx="3172968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HTML5 · CSS3 · JavaScript · Chart.js</a:t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4489704" y="1700784"/>
            <a:ext cx="3584448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4700016" y="1920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285" name="Google Shape;285;p10"/>
          <p:cNvSpPr txBox="1"/>
          <p:nvPr/>
        </p:nvSpPr>
        <p:spPr>
          <a:xfrm>
            <a:off x="4700016" y="2487168"/>
            <a:ext cx="3172968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Python · Flask · Waitress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8385048" y="1700784"/>
            <a:ext cx="3584448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8595360" y="1920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Sincronización</a:t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8595360" y="2487168"/>
            <a:ext cx="3172968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Python · pyodbc · sockets TCP</a:t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594360" y="3877056"/>
            <a:ext cx="3584448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804672" y="40965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/>
          </a:p>
        </p:txBody>
      </p:sp>
      <p:sp>
        <p:nvSpPr>
          <p:cNvPr id="291" name="Google Shape;291;p10"/>
          <p:cNvSpPr txBox="1"/>
          <p:nvPr/>
        </p:nvSpPr>
        <p:spPr>
          <a:xfrm>
            <a:off x="804672" y="4663440"/>
            <a:ext cx="3172968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TypeScript · Node.js · NestJS · Axios · RxJS</a:t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4489704" y="3877056"/>
            <a:ext cx="3584448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4700016" y="40965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4700016" y="4663440"/>
            <a:ext cx="3172968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Azure SQL · SQL Server locales · SQL Nexo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8385048" y="3877056"/>
            <a:ext cx="3584448" cy="1874519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8595360" y="40965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Mensajería y soporte</a:t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8595360" y="4663440"/>
            <a:ext cx="3172968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RabbitMQ · InvGate Service Desk</a:t>
            </a:r>
            <a:endParaRPr/>
          </a:p>
        </p:txBody>
      </p:sp>
      <p:pic>
        <p:nvPicPr>
          <p:cNvPr id="298" name="Google Shape;298;p10" title="Axi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100" y="5148050"/>
            <a:ext cx="457201" cy="4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0" title="Azure_SQ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0075" y="5185200"/>
            <a:ext cx="382900" cy="3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0" title="Chart.j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0100" y="2954375"/>
            <a:ext cx="345750" cy="34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0" title="CSS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3825" y="3008388"/>
            <a:ext cx="291725" cy="2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0" title="Flask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0150" y="2909651"/>
            <a:ext cx="457199" cy="4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0" title="HTML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1650" y="3008412"/>
            <a:ext cx="291725" cy="2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0" title="JavaScrip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56963" y="2981388"/>
            <a:ext cx="291725" cy="2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0" title="Microsoft_SQL_Azur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92313" y="5230776"/>
            <a:ext cx="291725" cy="2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0" title="NestJS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11675" y="514805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0" title="Node.js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22450" y="5185200"/>
            <a:ext cx="382900" cy="3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0" title="pyodbc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326300" y="2909650"/>
            <a:ext cx="457199" cy="4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" title="Python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737775" y="2981400"/>
            <a:ext cx="291725" cy="2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0" title="RabbitMQ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737775" y="5148050"/>
            <a:ext cx="479350" cy="4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0" title="RxJS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01075" y="5148050"/>
            <a:ext cx="526625" cy="5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0" title="SQL_Server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123100" y="5148050"/>
            <a:ext cx="382900" cy="3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0" title="TypeScrip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483625" y="5196275"/>
            <a:ext cx="382900" cy="3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0" title="Waitress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989900" y="2935800"/>
            <a:ext cx="382900" cy="3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0" title="Python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83500" y="2981387"/>
            <a:ext cx="291725" cy="2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880750" y="5239250"/>
            <a:ext cx="291700" cy="29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0247238" y="2935800"/>
            <a:ext cx="382900" cy="3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10 · DISEÑO TÉCNICO</a:t>
            </a:r>
            <a:endParaRPr/>
          </a:p>
        </p:txBody>
      </p:sp>
      <p:sp>
        <p:nvSpPr>
          <p:cNvPr id="324" name="Google Shape;324;p11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Arquitectura de la aplicación</a:t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11  /  14</a:t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731520" y="1737360"/>
            <a:ext cx="10744200" cy="4251960"/>
          </a:xfrm>
          <a:prstGeom prst="roundRect">
            <a:avLst>
              <a:gd fmla="val 16667" name="adj"/>
            </a:avLst>
          </a:prstGeom>
          <a:solidFill>
            <a:srgbClr val="0A1322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1417320" y="3685032"/>
            <a:ext cx="9372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9BCCF"/>
                </a:solidFill>
              </a:rPr>
              <a:t>Documento pendiente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11 · BASE DE DATOS</a:t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12  /  14</a:t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731520" y="1737360"/>
            <a:ext cx="10744200" cy="4251960"/>
          </a:xfrm>
          <a:prstGeom prst="roundRect">
            <a:avLst>
              <a:gd fmla="val 16667" name="adj"/>
            </a:avLst>
          </a:prstGeom>
          <a:solidFill>
            <a:srgbClr val="0A1322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1417320" y="3685032"/>
            <a:ext cx="9372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9BCCF"/>
                </a:solidFill>
              </a:rPr>
              <a:t>Documento pendiente</a:t>
            </a:r>
            <a:endParaRPr sz="1600">
              <a:solidFill>
                <a:srgbClr val="A9BCC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12 · EVOLUCIÓN</a:t>
            </a:r>
            <a:endParaRPr/>
          </a:p>
        </p:txBody>
      </p:sp>
      <p:sp>
        <p:nvSpPr>
          <p:cNvPr id="346" name="Google Shape;346;p13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Mejoras futuras</a:t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13  /  14</a:t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731520" y="1764792"/>
            <a:ext cx="5321808" cy="1847088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 txBox="1"/>
          <p:nvPr/>
        </p:nvSpPr>
        <p:spPr>
          <a:xfrm>
            <a:off x="932688" y="1911095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941832" y="229514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Más detecciones</a:t>
            </a:r>
            <a:endParaRPr/>
          </a:p>
        </p:txBody>
      </p:sp>
      <p:sp>
        <p:nvSpPr>
          <p:cNvPr id="352" name="Google Shape;352;p13"/>
          <p:cNvSpPr txBox="1"/>
          <p:nvPr/>
        </p:nvSpPr>
        <p:spPr>
          <a:xfrm>
            <a:off x="941832" y="2798063"/>
            <a:ext cx="491032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Extender las reglas a nuevos tipos de incidencias.</a:t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6446520" y="1764792"/>
            <a:ext cx="5321808" cy="1847088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6647688" y="1911095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55" name="Google Shape;355;p13"/>
          <p:cNvSpPr txBox="1"/>
          <p:nvPr/>
        </p:nvSpPr>
        <p:spPr>
          <a:xfrm>
            <a:off x="6656832" y="229514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/>
          </a:p>
        </p:txBody>
      </p:sp>
      <p:sp>
        <p:nvSpPr>
          <p:cNvPr id="356" name="Google Shape;356;p13"/>
          <p:cNvSpPr txBox="1"/>
          <p:nvPr/>
        </p:nvSpPr>
        <p:spPr>
          <a:xfrm>
            <a:off x="6656832" y="2798063"/>
            <a:ext cx="491032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Incorporar alertas proactivas fuera del dashboard.</a:t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731520" y="3904487"/>
            <a:ext cx="5321808" cy="1847088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932688" y="4050791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59" name="Google Shape;359;p13"/>
          <p:cNvSpPr txBox="1"/>
          <p:nvPr/>
        </p:nvSpPr>
        <p:spPr>
          <a:xfrm>
            <a:off x="941832" y="44348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Independencia de ticketera</a:t>
            </a:r>
            <a:endParaRPr/>
          </a:p>
        </p:txBody>
      </p:sp>
      <p:sp>
        <p:nvSpPr>
          <p:cNvPr id="360" name="Google Shape;360;p13"/>
          <p:cNvSpPr txBox="1"/>
          <p:nvPr/>
        </p:nvSpPr>
        <p:spPr>
          <a:xfrm>
            <a:off x="941832" y="4937759"/>
            <a:ext cx="491032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Integrar otra plataforma o desarrollar una solución propia.</a:t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6446520" y="3904487"/>
            <a:ext cx="5321808" cy="1847088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6647688" y="4050791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63" name="Google Shape;363;p13"/>
          <p:cNvSpPr txBox="1"/>
          <p:nvPr/>
        </p:nvSpPr>
        <p:spPr>
          <a:xfrm>
            <a:off x="6656832" y="44348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Chatbot de soporte</a:t>
            </a:r>
            <a:endParaRPr/>
          </a:p>
        </p:txBody>
      </p:sp>
      <p:sp>
        <p:nvSpPr>
          <p:cNvPr id="364" name="Google Shape;364;p13"/>
          <p:cNvSpPr txBox="1"/>
          <p:nvPr/>
        </p:nvSpPr>
        <p:spPr>
          <a:xfrm>
            <a:off x="6656832" y="4937759"/>
            <a:ext cx="491032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Permitir creación de tickets conversacional a través de la API.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2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DCFE4"/>
          </a:solidFill>
          <a:ln cap="flat" cmpd="sng" w="9525">
            <a:solidFill>
              <a:srgbClr val="2DCF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 txBox="1"/>
          <p:nvPr/>
        </p:nvSpPr>
        <p:spPr>
          <a:xfrm>
            <a:off x="502920" y="256032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13 · CIERRE</a:t>
            </a:r>
            <a:endParaRPr/>
          </a:p>
        </p:txBody>
      </p:sp>
      <p:sp>
        <p:nvSpPr>
          <p:cNvPr id="371" name="Google Shape;371;p14"/>
          <p:cNvSpPr txBox="1"/>
          <p:nvPr/>
        </p:nvSpPr>
        <p:spPr>
          <a:xfrm>
            <a:off x="502920" y="694944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502920" y="1371600"/>
            <a:ext cx="11155680" cy="16459"/>
          </a:xfrm>
          <a:prstGeom prst="rect">
            <a:avLst/>
          </a:prstGeom>
          <a:solidFill>
            <a:srgbClr val="2F485F"/>
          </a:solidFill>
          <a:ln cap="flat" cmpd="sng" w="9525">
            <a:solidFill>
              <a:srgbClr val="2F48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 txBox="1"/>
          <p:nvPr/>
        </p:nvSpPr>
        <p:spPr>
          <a:xfrm>
            <a:off x="10744200" y="6492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14  /  14</a:t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777240" y="1764792"/>
            <a:ext cx="10652760" cy="3291840"/>
          </a:xfrm>
          <a:prstGeom prst="roundRect">
            <a:avLst>
              <a:gd fmla="val 16667" name="adj"/>
            </a:avLst>
          </a:prstGeom>
          <a:solidFill>
            <a:srgbClr val="142337"/>
          </a:solidFill>
          <a:ln cap="flat" cmpd="sng" w="9525">
            <a:solidFill>
              <a:srgbClr val="1423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1143000" y="2240280"/>
            <a:ext cx="9921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8FF"/>
                </a:solidFill>
                <a:latin typeface="Arial"/>
                <a:ea typeface="Arial"/>
                <a:cs typeface="Arial"/>
                <a:sym typeface="Arial"/>
              </a:rPr>
              <a:t>Nexo transforma la gestión de incidencias: de una atención reactiva basada en llamadas a una detección proactiva y automatizada.</a:t>
            </a:r>
            <a:endParaRPr/>
          </a:p>
        </p:txBody>
      </p:sp>
      <p:sp>
        <p:nvSpPr>
          <p:cNvPr id="376" name="Google Shape;376;p14"/>
          <p:cNvSpPr txBox="1"/>
          <p:nvPr/>
        </p:nvSpPr>
        <p:spPr>
          <a:xfrm>
            <a:off x="1143000" y="3749039"/>
            <a:ext cx="9738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9BCCF"/>
                </a:solidFill>
                <a:latin typeface="Arial"/>
                <a:ea typeface="Arial"/>
                <a:cs typeface="Arial"/>
                <a:sym typeface="Arial"/>
              </a:rPr>
              <a:t>Centraliza información de más de 100 locales, automatiza la creación de tickets en InvGate y establece una base escalable para futuros indicadores.</a:t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2377440" y="5596128"/>
            <a:ext cx="7498079" cy="411480"/>
          </a:xfrm>
          <a:prstGeom prst="roundRect">
            <a:avLst>
              <a:gd fmla="val 16667" name="adj"/>
            </a:avLst>
          </a:prstGeom>
          <a:solidFill>
            <a:srgbClr val="192D43"/>
          </a:solidFill>
          <a:ln cap="flat" cmpd="sng" w="9525">
            <a:solidFill>
              <a:srgbClr val="192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2487168" y="5678424"/>
            <a:ext cx="731519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91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CFE4"/>
                </a:solidFill>
                <a:latin typeface="Arial"/>
                <a:ea typeface="Arial"/>
                <a:cs typeface="Arial"/>
                <a:sym typeface="Arial"/>
              </a:rPr>
              <a:t>META DE NEGOCIO: −50% DE LLAMADAS A SOPORTE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